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65" r:id="rId4"/>
    <p:sldId id="266" r:id="rId5"/>
    <p:sldId id="257" r:id="rId6"/>
    <p:sldId id="258" r:id="rId7"/>
    <p:sldId id="263" r:id="rId8"/>
    <p:sldId id="261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53" y="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1T00:18:08.89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0,'5105'0,"-5110"0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1T00:18:23.92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0,'15'0,"22"4,27 4,-57-7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1T00:18:26.73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2277 0,'-2266'0,"2256"0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1T00:18:30.61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1,'2204'0,"-2186"0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1T00:18:32.95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1,'2038'0,"-2023"0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5115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0:00-0:30. Pause two seconds after "Over 1 month." Operators are not careless; they just cannot see which fault costs the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F55E8-05CC-972C-A1DA-23A072D5B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C1BCB6-38D5-3B1E-CAF4-947A14131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5E17AA-FFD7-6848-2979-D09893034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0:00-0:30. Pause two seconds after "Over 1 month." Operators are not careless; they just cannot see which fault costs the most.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1C947-45ED-08AE-53FB-75775316A5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629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0:30-0:45. Three steps: forecast, impact,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memorable moment. Say: same broken charger, two stations, different priority. Then show it live on the Actions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39D60-D320-BE68-CD0A-C50AD95E6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F40456-9717-D38D-EA58-66C856D3F8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72F163-3CDA-0818-83ED-B6C0165CE0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0:30-0:45. Three steps: forecast, impact, action.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DB8BE-BAA4-08FF-87C8-D1A2F14C66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254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2:20-2:45. Switch to the live Results page. State how many faults [N] sit behind precision and recall, and say the fault data is simulated.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2:45-3:00. Callback to Gemas, then end on: same broken charger, two stations, different priority.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EA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946150"/>
            <a:ext cx="10566400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73E1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77390"/>
            <a:ext cx="10566400" cy="40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73E1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946150"/>
            <a:ext cx="10566400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73E1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77390"/>
            <a:ext cx="10566400" cy="40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73E1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customXml" Target="../ink/ink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9156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BE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AMPWISE · EV CHARGING ACTION ENGINE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12800" y="1841500"/>
            <a:ext cx="7848600" cy="1073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250"/>
              </a:lnSpc>
              <a:buNone/>
            </a:pPr>
            <a:r>
              <a:rPr lang="en-US" sz="750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charger.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812800" y="2889250"/>
            <a:ext cx="7848600" cy="1073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250"/>
              </a:lnSpc>
              <a:buNone/>
            </a:pPr>
            <a:r>
              <a:rPr lang="en-US" sz="7500" b="1" dirty="0">
                <a:solidFill>
                  <a:srgbClr val="2BE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1 month.</a:t>
            </a:r>
            <a:endParaRPr lang="en-US" sz="7500" dirty="0"/>
          </a:p>
        </p:txBody>
      </p:sp>
      <p:pic>
        <p:nvPicPr>
          <p:cNvPr id="7" name="Image 0" descr="Broken EV charge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90000" y="1270000"/>
            <a:ext cx="1905000" cy="2667000"/>
          </a:xfrm>
          <a:prstGeom prst="rect">
            <a:avLst/>
          </a:prstGeom>
        </p:spPr>
      </p:pic>
      <p:pic>
        <p:nvPicPr>
          <p:cNvPr id="8" name="Image 1" descr="War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604500" y="1206500"/>
            <a:ext cx="635000" cy="635000"/>
          </a:xfrm>
          <a:prstGeom prst="rect">
            <a:avLst/>
          </a:prstGeom>
        </p:spPr>
      </p:pic>
      <p:pic>
        <p:nvPicPr>
          <p:cNvPr id="9" name="Image 2" descr="electric ca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2500" y="4445000"/>
            <a:ext cx="889000" cy="444500"/>
          </a:xfrm>
          <a:prstGeom prst="rect">
            <a:avLst/>
          </a:prstGeom>
        </p:spPr>
      </p:pic>
      <p:pic>
        <p:nvPicPr>
          <p:cNvPr id="10" name="Image 3" descr="electric ca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525000" y="4445000"/>
            <a:ext cx="889000" cy="444500"/>
          </a:xfrm>
          <a:prstGeom prst="rect">
            <a:avLst/>
          </a:prstGeom>
        </p:spPr>
      </p:pic>
      <p:pic>
        <p:nvPicPr>
          <p:cNvPr id="11" name="Image 4" descr="electric ca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477500" y="4445000"/>
            <a:ext cx="889000" cy="44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A8450D-2DF5-97BA-3997-EC99D0B22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0200"/>
            <a:ext cx="12192000" cy="6197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D441826-6C87-2816-E3B5-4AE45DD42309}"/>
                  </a:ext>
                </a:extLst>
              </p14:cNvPr>
              <p14:cNvContentPartPr/>
              <p14:nvPr/>
            </p14:nvContentPartPr>
            <p14:xfrm>
              <a:off x="4548840" y="4637340"/>
              <a:ext cx="183816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D441826-6C87-2816-E3B5-4AE45DD423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12840" y="4565340"/>
                <a:ext cx="19098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A607E82-64A4-1B9B-C404-A719E36A45A0}"/>
                  </a:ext>
                </a:extLst>
              </p14:cNvPr>
              <p14:cNvContentPartPr/>
              <p14:nvPr/>
            </p14:nvContentPartPr>
            <p14:xfrm>
              <a:off x="7558800" y="3032460"/>
              <a:ext cx="44640" cy="50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A607E82-64A4-1B9B-C404-A719E36A45A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22800" y="2960460"/>
                <a:ext cx="11628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07E44D4-9765-A4EC-9D07-4C6755A8C8CF}"/>
                  </a:ext>
                </a:extLst>
              </p14:cNvPr>
              <p14:cNvContentPartPr/>
              <p14:nvPr/>
            </p14:nvContentPartPr>
            <p14:xfrm>
              <a:off x="7592640" y="3037140"/>
              <a:ext cx="81972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07E44D4-9765-A4EC-9D07-4C6755A8C8C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57000" y="2965140"/>
                <a:ext cx="8913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9E21245-E9EE-095C-FD87-D5679886F4B2}"/>
                  </a:ext>
                </a:extLst>
              </p14:cNvPr>
              <p14:cNvContentPartPr/>
              <p14:nvPr/>
            </p14:nvContentPartPr>
            <p14:xfrm>
              <a:off x="4228800" y="3204540"/>
              <a:ext cx="80028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9E21245-E9EE-095C-FD87-D5679886F4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192800" y="3132900"/>
                <a:ext cx="8719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A4DCD55-6457-A033-E412-3E70631C9036}"/>
                  </a:ext>
                </a:extLst>
              </p14:cNvPr>
              <p14:cNvContentPartPr/>
              <p14:nvPr/>
            </p14:nvContentPartPr>
            <p14:xfrm>
              <a:off x="6362520" y="3204540"/>
              <a:ext cx="73944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A4DCD55-6457-A033-E412-3E70631C903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26520" y="3132900"/>
                <a:ext cx="811080" cy="14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04902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36AE5D-5CEB-62C4-E7F5-145528E90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528" y="0"/>
            <a:ext cx="74969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714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E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85227A-4FDF-0D66-6817-5CBA265BD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5314B0-D1C9-EC24-4E68-AA146BD5F063}"/>
              </a:ext>
            </a:extLst>
          </p:cNvPr>
          <p:cNvSpPr/>
          <p:nvPr/>
        </p:nvSpPr>
        <p:spPr>
          <a:xfrm>
            <a:off x="1270000" y="2689225"/>
            <a:ext cx="70916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800" b="1" dirty="0">
                <a:solidFill>
                  <a:srgbClr val="2BE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AMPWISE </a:t>
            </a:r>
          </a:p>
          <a:p>
            <a:pPr marL="0" indent="0" algn="ctr">
              <a:lnSpc>
                <a:spcPts val="2100"/>
              </a:lnSpc>
              <a:buNone/>
            </a:pPr>
            <a:endParaRPr lang="en-US" sz="2800" b="1" dirty="0">
              <a:solidFill>
                <a:srgbClr val="2BE84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lnSpc>
                <a:spcPts val="2100"/>
              </a:lnSpc>
              <a:buNone/>
            </a:pPr>
            <a:endParaRPr lang="en-US" sz="2800" b="1" dirty="0">
              <a:solidFill>
                <a:srgbClr val="2BE84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lnSpc>
                <a:spcPts val="2100"/>
              </a:lnSpc>
              <a:buNone/>
            </a:pPr>
            <a:r>
              <a:rPr lang="en-US" sz="2800" b="1" dirty="0">
                <a:solidFill>
                  <a:srgbClr val="2BE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CHARGING ACTION ENGINE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6B39EB4-E8BB-48C9-1BA5-2CC55B3FA9F2}"/>
              </a:ext>
            </a:extLst>
          </p:cNvPr>
          <p:cNvSpPr/>
          <p:nvPr/>
        </p:nvSpPr>
        <p:spPr>
          <a:xfrm>
            <a:off x="812800" y="2889250"/>
            <a:ext cx="7848600" cy="1073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250"/>
              </a:lnSpc>
              <a:buNone/>
            </a:pPr>
            <a:endParaRPr lang="en-US" sz="7500" dirty="0"/>
          </a:p>
        </p:txBody>
      </p:sp>
      <p:pic>
        <p:nvPicPr>
          <p:cNvPr id="7" name="Image 0" descr="Broken EV charger">
            <a:extLst>
              <a:ext uri="{FF2B5EF4-FFF2-40B4-BE49-F238E27FC236}">
                <a16:creationId xmlns:a16="http://schemas.microsoft.com/office/drawing/2014/main" id="{B20C46DF-7A31-90A8-1FBC-C7010132A1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90000" y="1270000"/>
            <a:ext cx="1905000" cy="2667000"/>
          </a:xfrm>
          <a:prstGeom prst="rect">
            <a:avLst/>
          </a:prstGeom>
        </p:spPr>
      </p:pic>
      <p:pic>
        <p:nvPicPr>
          <p:cNvPr id="8" name="Image 1" descr="Warning">
            <a:extLst>
              <a:ext uri="{FF2B5EF4-FFF2-40B4-BE49-F238E27FC236}">
                <a16:creationId xmlns:a16="http://schemas.microsoft.com/office/drawing/2014/main" id="{5355BC41-6DF3-64E9-A284-0DF653B82A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604500" y="1206500"/>
            <a:ext cx="635000" cy="635000"/>
          </a:xfrm>
          <a:prstGeom prst="rect">
            <a:avLst/>
          </a:prstGeom>
        </p:spPr>
      </p:pic>
      <p:pic>
        <p:nvPicPr>
          <p:cNvPr id="9" name="Image 2" descr="electric car">
            <a:extLst>
              <a:ext uri="{FF2B5EF4-FFF2-40B4-BE49-F238E27FC236}">
                <a16:creationId xmlns:a16="http://schemas.microsoft.com/office/drawing/2014/main" id="{844DF878-87D1-D59B-691E-DF31A479DD1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2500" y="4445000"/>
            <a:ext cx="889000" cy="444500"/>
          </a:xfrm>
          <a:prstGeom prst="rect">
            <a:avLst/>
          </a:prstGeom>
        </p:spPr>
      </p:pic>
      <p:pic>
        <p:nvPicPr>
          <p:cNvPr id="10" name="Image 3" descr="electric car">
            <a:extLst>
              <a:ext uri="{FF2B5EF4-FFF2-40B4-BE49-F238E27FC236}">
                <a16:creationId xmlns:a16="http://schemas.microsoft.com/office/drawing/2014/main" id="{9B2D6DC9-016C-E9AF-962A-94BD0C7CAC7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525000" y="4445000"/>
            <a:ext cx="889000" cy="444500"/>
          </a:xfrm>
          <a:prstGeom prst="rect">
            <a:avLst/>
          </a:prstGeom>
        </p:spPr>
      </p:pic>
      <p:pic>
        <p:nvPicPr>
          <p:cNvPr id="11" name="Image 4" descr="electric car">
            <a:extLst>
              <a:ext uri="{FF2B5EF4-FFF2-40B4-BE49-F238E27FC236}">
                <a16:creationId xmlns:a16="http://schemas.microsoft.com/office/drawing/2014/main" id="{8CF521EB-2721-CD4F-EAF4-292E13C49B0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477500" y="4445000"/>
            <a:ext cx="8890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057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3BD4CC6C-8859-BF1E-B399-43A0A97D8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20" y="455420"/>
            <a:ext cx="11968480" cy="594715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C10B83F-D43F-91B6-8C12-AF4A0FF86D61}"/>
              </a:ext>
            </a:extLst>
          </p:cNvPr>
          <p:cNvSpPr/>
          <p:nvPr/>
        </p:nvSpPr>
        <p:spPr>
          <a:xfrm>
            <a:off x="7101840" y="355600"/>
            <a:ext cx="1371600" cy="50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Time slider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E2687D-1ED7-0EC0-205A-4D1A669F310A}"/>
              </a:ext>
            </a:extLst>
          </p:cNvPr>
          <p:cNvSpPr/>
          <p:nvPr/>
        </p:nvSpPr>
        <p:spPr>
          <a:xfrm>
            <a:off x="10535920" y="5577840"/>
            <a:ext cx="1524000" cy="6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Stations and congestion</a:t>
            </a: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3B1BA8-4059-2C99-E914-EF072AD817B9}"/>
              </a:ext>
            </a:extLst>
          </p:cNvPr>
          <p:cNvSpPr/>
          <p:nvPr/>
        </p:nvSpPr>
        <p:spPr>
          <a:xfrm>
            <a:off x="7701280" y="1259840"/>
            <a:ext cx="1534160" cy="50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Notifications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6350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73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broken charger. Two stations.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717675"/>
            <a:ext cx="5073650" cy="3930650"/>
          </a:xfrm>
          <a:prstGeom prst="roundRect">
            <a:avLst>
              <a:gd name="adj" fmla="val 3796"/>
            </a:avLst>
          </a:prstGeom>
          <a:solidFill>
            <a:srgbClr val="FFFFFF"/>
          </a:solidFill>
          <a:ln w="6350">
            <a:solidFill>
              <a:srgbClr val="D5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17600" y="1930400"/>
            <a:ext cx="470916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73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Quiet station</a:t>
            </a:r>
            <a:endParaRPr lang="en-US" sz="2200" dirty="0"/>
          </a:p>
        </p:txBody>
      </p:sp>
      <p:pic>
        <p:nvPicPr>
          <p:cNvPr id="5" name="Image 0" descr="Broken charge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20800" y="2476500"/>
            <a:ext cx="825500" cy="1155700"/>
          </a:xfrm>
          <a:prstGeom prst="rect">
            <a:avLst/>
          </a:prstGeom>
        </p:spPr>
      </p:pic>
      <p:pic>
        <p:nvPicPr>
          <p:cNvPr id="6" name="Image 1" descr="Working charge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654300" y="2476500"/>
            <a:ext cx="825500" cy="1155700"/>
          </a:xfrm>
          <a:prstGeom prst="rect">
            <a:avLst/>
          </a:prstGeom>
        </p:spPr>
      </p:pic>
      <p:pic>
        <p:nvPicPr>
          <p:cNvPr id="7" name="Image 2" descr="Working charge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987800" y="2476500"/>
            <a:ext cx="825500" cy="1155700"/>
          </a:xfrm>
          <a:prstGeom prst="rect">
            <a:avLst/>
          </a:prstGeom>
        </p:spPr>
      </p:pic>
      <p:pic>
        <p:nvPicPr>
          <p:cNvPr id="8" name="Image 3" descr="electric ca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66800" y="3873500"/>
            <a:ext cx="889000" cy="4445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117600" y="4508500"/>
            <a:ext cx="47091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300" b="1" dirty="0">
                <a:solidFill>
                  <a:srgbClr val="1F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drivers affected</a:t>
            </a:r>
            <a:endParaRPr lang="en-US" sz="2300" dirty="0"/>
          </a:p>
        </p:txBody>
      </p:sp>
      <p:sp>
        <p:nvSpPr>
          <p:cNvPr id="10" name="Text 4"/>
          <p:cNvSpPr/>
          <p:nvPr/>
        </p:nvSpPr>
        <p:spPr>
          <a:xfrm>
            <a:off x="1117600" y="4984750"/>
            <a:ext cx="470916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73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schedule this week</a:t>
            </a:r>
            <a:endParaRPr lang="en-US" sz="1700" dirty="0"/>
          </a:p>
        </p:txBody>
      </p:sp>
      <p:sp>
        <p:nvSpPr>
          <p:cNvPr id="11" name="Shape 5"/>
          <p:cNvSpPr/>
          <p:nvPr/>
        </p:nvSpPr>
        <p:spPr>
          <a:xfrm>
            <a:off x="6318250" y="1733550"/>
            <a:ext cx="5041900" cy="3898900"/>
          </a:xfrm>
          <a:prstGeom prst="roundRect">
            <a:avLst>
              <a:gd name="adj" fmla="val 3420"/>
            </a:avLst>
          </a:prstGeom>
          <a:solidFill>
            <a:srgbClr val="FFFFFF"/>
          </a:solidFill>
          <a:ln w="38100">
            <a:solidFill>
              <a:srgbClr val="D9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6"/>
          <p:cNvSpPr/>
          <p:nvPr/>
        </p:nvSpPr>
        <p:spPr>
          <a:xfrm>
            <a:off x="6604000" y="1930400"/>
            <a:ext cx="470916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73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Busy station, Friday evening</a:t>
            </a:r>
            <a:endParaRPr lang="en-US" sz="2200" dirty="0"/>
          </a:p>
        </p:txBody>
      </p:sp>
      <p:pic>
        <p:nvPicPr>
          <p:cNvPr id="13" name="Image 4" descr="Broken charge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07200" y="2476500"/>
            <a:ext cx="825500" cy="1155700"/>
          </a:xfrm>
          <a:prstGeom prst="rect">
            <a:avLst/>
          </a:prstGeom>
        </p:spPr>
      </p:pic>
      <p:pic>
        <p:nvPicPr>
          <p:cNvPr id="14" name="Image 5" descr="Working charge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40700" y="2476500"/>
            <a:ext cx="825500" cy="1155700"/>
          </a:xfrm>
          <a:prstGeom prst="rect">
            <a:avLst/>
          </a:prstGeom>
        </p:spPr>
      </p:pic>
      <p:pic>
        <p:nvPicPr>
          <p:cNvPr id="15" name="Image 6" descr="Working charge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74200" y="2476500"/>
            <a:ext cx="825500" cy="1155700"/>
          </a:xfrm>
          <a:prstGeom prst="rect">
            <a:avLst/>
          </a:prstGeom>
        </p:spPr>
      </p:pic>
      <p:pic>
        <p:nvPicPr>
          <p:cNvPr id="16" name="Image 7" descr="electric ca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53200" y="3873500"/>
            <a:ext cx="889000" cy="444500"/>
          </a:xfrm>
          <a:prstGeom prst="rect">
            <a:avLst/>
          </a:prstGeom>
        </p:spPr>
      </p:pic>
      <p:pic>
        <p:nvPicPr>
          <p:cNvPr id="17" name="Image 8" descr="electric ca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493000" y="3873500"/>
            <a:ext cx="889000" cy="444500"/>
          </a:xfrm>
          <a:prstGeom prst="rect">
            <a:avLst/>
          </a:prstGeom>
        </p:spPr>
      </p:pic>
      <p:pic>
        <p:nvPicPr>
          <p:cNvPr id="18" name="Image 9" descr="electric ca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32800" y="3873500"/>
            <a:ext cx="889000" cy="444500"/>
          </a:xfrm>
          <a:prstGeom prst="rect">
            <a:avLst/>
          </a:prstGeom>
        </p:spPr>
      </p:pic>
      <p:pic>
        <p:nvPicPr>
          <p:cNvPr id="19" name="Image 10" descr="electric ca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372600" y="3873500"/>
            <a:ext cx="889000" cy="444500"/>
          </a:xfrm>
          <a:prstGeom prst="rect">
            <a:avLst/>
          </a:prstGeom>
        </p:spPr>
      </p:pic>
      <p:pic>
        <p:nvPicPr>
          <p:cNvPr id="20" name="Image 11" descr="electric ca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312400" y="3873500"/>
            <a:ext cx="889000" cy="444500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6604000" y="4508500"/>
            <a:ext cx="47091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300" b="1" dirty="0">
                <a:solidFill>
                  <a:srgbClr val="D9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drivers turned away</a:t>
            </a:r>
            <a:endParaRPr lang="en-US" sz="2300" dirty="0"/>
          </a:p>
        </p:txBody>
      </p:sp>
      <p:sp>
        <p:nvSpPr>
          <p:cNvPr id="22" name="Text 8"/>
          <p:cNvSpPr/>
          <p:nvPr/>
        </p:nvSpPr>
        <p:spPr>
          <a:xfrm>
            <a:off x="6604000" y="4984750"/>
            <a:ext cx="470916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73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send a technician today</a:t>
            </a:r>
            <a:endParaRPr lang="en-US" sz="1700" dirty="0"/>
          </a:p>
        </p:txBody>
      </p:sp>
      <p:sp>
        <p:nvSpPr>
          <p:cNvPr id="23" name="Text 9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C5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example of how the same fault ranks differently.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3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344F16-A53B-C6FB-B1DE-FD0BD924F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4C3F6A-C9C2-C486-89FE-53F56FEEA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9018"/>
            <a:ext cx="12192000" cy="669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32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523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RESULTS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79500"/>
            <a:ext cx="10883392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73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work? One test week against the traditional baseline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2800" y="2413000"/>
            <a:ext cx="3302000" cy="2357120"/>
          </a:xfrm>
          <a:prstGeom prst="roundRect">
            <a:avLst>
              <a:gd name="adj" fmla="val 538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Char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6800" y="26670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6800" y="3200400"/>
            <a:ext cx="2877820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F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19.2%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1066800" y="3947161"/>
            <a:ext cx="28778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73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forecast error than the baseline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445000" y="2413000"/>
            <a:ext cx="3302000" cy="2641600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Verified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99000" y="26670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99000" y="3200400"/>
            <a:ext cx="2877820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F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4800" dirty="0"/>
          </a:p>
        </p:txBody>
      </p:sp>
      <p:sp>
        <p:nvSpPr>
          <p:cNvPr id="11" name="Text 7"/>
          <p:cNvSpPr/>
          <p:nvPr/>
        </p:nvSpPr>
        <p:spPr>
          <a:xfrm>
            <a:off x="4699000" y="3947161"/>
            <a:ext cx="287782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73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real faults found, with 100% precision, on 1056 simulated faults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077200" y="2413000"/>
            <a:ext cx="3302000" cy="2072640"/>
          </a:xfrm>
          <a:prstGeom prst="roundRect">
            <a:avLst>
              <a:gd name="adj" fmla="val 61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Cloc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31200" y="26670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31200" y="3200400"/>
            <a:ext cx="2877820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F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412 min</a:t>
            </a:r>
            <a:endParaRPr lang="en-US" sz="4800" dirty="0"/>
          </a:p>
        </p:txBody>
      </p:sp>
      <p:sp>
        <p:nvSpPr>
          <p:cNvPr id="15" name="Text 10"/>
          <p:cNvSpPr/>
          <p:nvPr/>
        </p:nvSpPr>
        <p:spPr>
          <a:xfrm>
            <a:off x="8331200" y="3947161"/>
            <a:ext cx="3048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73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queue time avoided</a:t>
            </a:r>
            <a:endParaRPr lang="en-US" sz="1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EEBC123-64BA-E283-2A2E-6C0B4661796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6650"/>
          <a:stretch>
            <a:fillRect/>
          </a:stretch>
        </p:blipFill>
        <p:spPr>
          <a:xfrm>
            <a:off x="564642" y="4919513"/>
            <a:ext cx="3715258" cy="18449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3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1270000"/>
            <a:ext cx="7521575" cy="2120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250"/>
              </a:lnSpc>
              <a:buNone/>
            </a:pPr>
            <a:r>
              <a:rPr lang="en-US" sz="7500" b="1" i="0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right thing first</a:t>
            </a:r>
            <a:endParaRPr lang="en-US" sz="7500" dirty="0"/>
          </a:p>
        </p:txBody>
      </p:sp>
      <p:pic>
        <p:nvPicPr>
          <p:cNvPr id="3" name="Image 0" descr="Working EV charge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25000" y="1206500"/>
            <a:ext cx="1651000" cy="2311400"/>
          </a:xfrm>
          <a:prstGeom prst="rect">
            <a:avLst/>
          </a:prstGeom>
        </p:spPr>
      </p:pic>
      <p:pic>
        <p:nvPicPr>
          <p:cNvPr id="4" name="Image 1" descr="electric ca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255000" y="2984500"/>
            <a:ext cx="1270000" cy="635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2800" y="5715000"/>
            <a:ext cx="65405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BE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AmpWise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mpWise Pitch">
  <a:themeElements>
    <a:clrScheme name="AmpWise Pitch">
      <a:dk1>
        <a:srgbClr val="173E1C"/>
      </a:dk1>
      <a:lt1>
        <a:srgbClr val="EAF3EC"/>
      </a:lt1>
      <a:dk2>
        <a:srgbClr val="4C6B50"/>
      </a:dk2>
      <a:lt2>
        <a:srgbClr val="D5E1D7"/>
      </a:lt2>
      <a:accent1>
        <a:srgbClr val="1F7A33"/>
      </a:accent1>
      <a:accent2>
        <a:srgbClr val="2BE84A"/>
      </a:accent2>
      <a:accent3>
        <a:srgbClr val="D94040"/>
      </a:accent3>
      <a:accent4>
        <a:srgbClr val="BFD8C3"/>
      </a:accent4>
      <a:accent5>
        <a:srgbClr val="3C5A41"/>
      </a:accent5>
      <a:accent6>
        <a:srgbClr val="9AA0A6"/>
      </a:accent6>
      <a:hlink>
        <a:srgbClr val="0563C1"/>
      </a:hlink>
      <a:folHlink>
        <a:srgbClr val="954F72"/>
      </a:folHlink>
    </a:clrScheme>
    <a:fontScheme name="AmpWise Pitc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272</Words>
  <Application>Microsoft Office PowerPoint</Application>
  <PresentationFormat>Widescreen</PresentationFormat>
  <Paragraphs>42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AmpWise Pitch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Same broken charger. Two stations.</vt:lpstr>
      <vt:lpstr>PowerPoint Presentation</vt:lpstr>
      <vt:lpstr>Does it work? One test week against the traditional baseline</vt:lpstr>
      <vt:lpstr>Fix the right thing first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AmpWise Pitch</dc:title>
  <dc:subject/>
  <dc:creator/>
  <cp:lastModifiedBy>Daphne Chu</cp:lastModifiedBy>
  <cp:revision>18</cp:revision>
  <dcterms:created xsi:type="dcterms:W3CDTF">2026-10-10T23:50:20Z</dcterms:created>
  <dcterms:modified xsi:type="dcterms:W3CDTF">2026-10-11T01:06:29Z</dcterms:modified>
</cp:coreProperties>
</file>